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0" d="100"/>
          <a:sy n="150" d="100"/>
        </p:scale>
        <p:origin x="424" y="1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501336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team and the app in one line. Do not read the slide. Move to the problem quickly - you have 5 to 10 minutes and the demo is the part they remember.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 CBS 2023 on Dutch proficiency of migrants; Stichting Lezen en Schrijven on low literacy. The half negen example is the one that lands - use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Naming who it is NOT for is what the rubric asks for. Say the last line out loud - it sets up the ethics slide later.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200 questions in total because every word runs both ways. Mention that the whole app was built in Lovable from prompts, with no hand-written code - that is the tool requirement.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you only make one point in the whole presentation, make this one. It is the design decision that came from the user, not from the technology.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Ninety seconds, no more. Do the pharmacy topic - it shows a Dutch word inside an Arabic sentence, the audio, and the pronunciation line all at once. Get one answer wrong on purpose so they see the feedback and the practise-mistakes button. Have the video ready in case the wifi fails.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give the generic answer about AI bias. These three are specific to this prototype, which is what the rubric asks for.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honest boundary. Naming your own limit scores better than overclaiming, and it usually stops the hardest question before it is asked.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44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417320"/>
            <a:ext cx="7863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Nederlands voor Nieuwkomers</a:t>
            </a:r>
            <a:endParaRPr lang="en-US" sz="4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28600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E8F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Dutch survival vocabulary for older Arabic-speaking newcomers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58368" y="2880360"/>
            <a:ext cx="1005840" cy="32004"/>
          </a:xfrm>
          <a:prstGeom prst="rect">
            <a:avLst/>
          </a:prstGeom>
          <a:solidFill>
            <a:srgbClr val="C165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640080" y="310896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BB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for Good  ·  Hackathon 1  ·  Built with Lovable  ·  SDG 4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92480" y="463296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00" b="1" dirty="0">
                <a:solidFill>
                  <a:srgbClr val="E8F0EF"/>
                </a:solidFill>
                <a:latin typeface="Calibri" pitchFamily="34" charset="0"/>
                <a:cs typeface="Calibri" pitchFamily="34" charset="-120"/>
              </a:rPr>
              <a:t>https://</a:t>
            </a:r>
            <a:r>
              <a:rPr lang="en-US" sz="1300" b="1" dirty="0" err="1">
                <a:solidFill>
                  <a:srgbClr val="E8F0EF"/>
                </a:solidFill>
                <a:latin typeface="Calibri" pitchFamily="34" charset="0"/>
                <a:cs typeface="Calibri" pitchFamily="34" charset="-120"/>
              </a:rPr>
              <a:t>buurt-arabic-dutch-buddy.lovable.app</a:t>
            </a:r>
            <a:endParaRPr lang="en-US" sz="130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E9A93781-A77C-D3CB-BFCD-3DD89D2AC65D}"/>
              </a:ext>
            </a:extLst>
          </p:cNvPr>
          <p:cNvSpPr txBox="1"/>
          <p:nvPr/>
        </p:nvSpPr>
        <p:spPr>
          <a:xfrm>
            <a:off x="792480" y="431292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F0EF"/>
                </a:solidFill>
                <a:latin typeface="Calibri" pitchFamily="34" charset="0"/>
                <a:cs typeface="Calibri" pitchFamily="34" charset="-120"/>
              </a:rPr>
              <a:t>Majed &amp; Quinten 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Arriving at 60 is not arriving at 20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2514600" cy="1508760"/>
          </a:xfrm>
          <a:prstGeom prst="roundRect">
            <a:avLst>
              <a:gd name="adj" fmla="val 6061"/>
            </a:avLst>
          </a:prstGeom>
          <a:solidFill>
            <a:srgbClr val="F2F7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0F6B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50%+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205740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F6F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migrants had almost no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5F6F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Dutch when they arrived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91840" y="1234440"/>
            <a:ext cx="2514600" cy="1508760"/>
          </a:xfrm>
          <a:prstGeom prst="roundRect">
            <a:avLst>
              <a:gd name="adj" fmla="val 6061"/>
            </a:avLst>
          </a:prstGeom>
          <a:solidFill>
            <a:srgbClr val="F2F7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3291840" y="1371600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0F6B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in 6</a:t>
            </a:r>
            <a:endParaRPr lang="en-US" sz="3800" dirty="0"/>
          </a:p>
        </p:txBody>
      </p:sp>
      <p:sp>
        <p:nvSpPr>
          <p:cNvPr id="8" name="Text 6"/>
          <p:cNvSpPr txBox="1"/>
          <p:nvPr/>
        </p:nvSpPr>
        <p:spPr>
          <a:xfrm>
            <a:off x="3429000" y="205740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F6F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adults in the Netherlands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5F6F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low-literate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035040" y="1234440"/>
            <a:ext cx="2514600" cy="1508760"/>
          </a:xfrm>
          <a:prstGeom prst="roundRect">
            <a:avLst>
              <a:gd name="adj" fmla="val 6061"/>
            </a:avLst>
          </a:prstGeom>
          <a:solidFill>
            <a:srgbClr val="F2F7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6035040" y="1371600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0F6B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€257m</a:t>
            </a:r>
            <a:endParaRPr lang="en-US" sz="3800" dirty="0"/>
          </a:p>
        </p:txBody>
      </p:sp>
      <p:sp>
        <p:nvSpPr>
          <p:cNvPr id="11" name="Text 9"/>
          <p:cNvSpPr txBox="1"/>
          <p:nvPr/>
        </p:nvSpPr>
        <p:spPr>
          <a:xfrm>
            <a:off x="6172200" y="205740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F6F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year in extra GP and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5F6F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visits linked to it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297180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it actually bites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3310128"/>
            <a:ext cx="8046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F6F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checkout, the doctor, the pharmacy, the gemeente desk, and letters in the post.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3730752"/>
            <a:ext cx="8046720" cy="749808"/>
          </a:xfrm>
          <a:prstGeom prst="roundRect">
            <a:avLst>
              <a:gd name="adj" fmla="val 9756"/>
            </a:avLst>
          </a:prstGeom>
          <a:solidFill>
            <a:srgbClr val="0A444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777240" y="3794760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D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half negen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means 8:30, not 9:30.   </a:t>
            </a:r>
            <a:r>
              <a:rPr lang="en-US" sz="1500" b="1" dirty="0">
                <a:solidFill>
                  <a:srgbClr val="FFD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eenentwintig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is 21, said backwards.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777240" y="4114800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BB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hard. Not guessable. Missing one costs you an appointment.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user, described precisely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3931920" cy="3291840"/>
          </a:xfrm>
          <a:prstGeom prst="roundRect">
            <a:avLst>
              <a:gd name="adj" fmla="val 2778"/>
            </a:avLst>
          </a:prstGeom>
          <a:solidFill>
            <a:srgbClr val="F2F7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777240" y="13716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6B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it is for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783080"/>
            <a:ext cx="35204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Arabic speaker, roughly 55 and older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Arrived recently, often via family reunification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Arabic fluently, Latin script slowly or not at all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a phone set up by a grandchild, low app confidence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inburgering age, so nobody is teaching them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663440" y="1188720"/>
            <a:ext cx="3931920" cy="3291840"/>
          </a:xfrm>
          <a:prstGeom prst="roundRect">
            <a:avLst>
              <a:gd name="adj" fmla="val 2778"/>
            </a:avLst>
          </a:prstGeom>
          <a:solidFill>
            <a:srgbClr val="FBF1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4892040" y="13716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165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it is not for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4892040" y="1783080"/>
            <a:ext cx="35204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Anyone sitting an inburgering or NT2 exam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Learners who do not read Arabic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who cannot read at all, in any script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without a smartphone or data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4892040" y="397764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C16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third group is the one worst affected by the problem.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 words, 10 situations, two directions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A1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84708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16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A2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261872"/>
            <a:ext cx="1481328" cy="530352"/>
          </a:xfrm>
          <a:prstGeom prst="roundRect">
            <a:avLst>
              <a:gd name="adj" fmla="val 12069"/>
            </a:avLst>
          </a:prstGeom>
          <a:solidFill>
            <a:srgbClr val="F2F7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603504" y="1261872"/>
            <a:ext cx="1371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Supermarket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176272" y="1261872"/>
            <a:ext cx="1481328" cy="530352"/>
          </a:xfrm>
          <a:prstGeom prst="roundRect">
            <a:avLst>
              <a:gd name="adj" fmla="val 12069"/>
            </a:avLst>
          </a:prstGeom>
          <a:solidFill>
            <a:srgbClr val="F2F7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2231136" y="1261872"/>
            <a:ext cx="1371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803904" y="1261872"/>
            <a:ext cx="1481328" cy="530352"/>
          </a:xfrm>
          <a:prstGeom prst="roundRect">
            <a:avLst>
              <a:gd name="adj" fmla="val 12069"/>
            </a:avLst>
          </a:prstGeom>
          <a:solidFill>
            <a:srgbClr val="F2F7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3858768" y="1261872"/>
            <a:ext cx="1371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Pharmacy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31536" y="1261872"/>
            <a:ext cx="1481328" cy="530352"/>
          </a:xfrm>
          <a:prstGeom prst="roundRect">
            <a:avLst>
              <a:gd name="adj" fmla="val 12069"/>
            </a:avLst>
          </a:prstGeom>
          <a:solidFill>
            <a:srgbClr val="F2F7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5486400" y="1261872"/>
            <a:ext cx="1371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059168" y="1261872"/>
            <a:ext cx="1481328" cy="530352"/>
          </a:xfrm>
          <a:prstGeom prst="roundRect">
            <a:avLst>
              <a:gd name="adj" fmla="val 12069"/>
            </a:avLst>
          </a:prstGeom>
          <a:solidFill>
            <a:srgbClr val="F2F7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7114032" y="1261872"/>
            <a:ext cx="1371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Gemeente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48640" y="2084832"/>
            <a:ext cx="1481328" cy="530352"/>
          </a:xfrm>
          <a:prstGeom prst="roundRect">
            <a:avLst>
              <a:gd name="adj" fmla="val 12069"/>
            </a:avLst>
          </a:prstGeom>
          <a:solidFill>
            <a:srgbClr val="FBF1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603504" y="2084832"/>
            <a:ext cx="1371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C16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&amp; appointments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176272" y="2084832"/>
            <a:ext cx="1481328" cy="530352"/>
          </a:xfrm>
          <a:prstGeom prst="roundRect">
            <a:avLst>
              <a:gd name="adj" fmla="val 12069"/>
            </a:avLst>
          </a:prstGeom>
          <a:solidFill>
            <a:srgbClr val="FBF1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2231136" y="2084832"/>
            <a:ext cx="1371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C16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Asking for help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803904" y="2084832"/>
            <a:ext cx="1481328" cy="530352"/>
          </a:xfrm>
          <a:prstGeom prst="roundRect">
            <a:avLst>
              <a:gd name="adj" fmla="val 12069"/>
            </a:avLst>
          </a:prstGeom>
          <a:solidFill>
            <a:srgbClr val="FBF1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3858768" y="2084832"/>
            <a:ext cx="1371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C16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yourself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431536" y="2084832"/>
            <a:ext cx="1481328" cy="530352"/>
          </a:xfrm>
          <a:prstGeom prst="roundRect">
            <a:avLst>
              <a:gd name="adj" fmla="val 12069"/>
            </a:avLst>
          </a:prstGeom>
          <a:solidFill>
            <a:srgbClr val="FBF1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 txBox="1"/>
          <p:nvPr/>
        </p:nvSpPr>
        <p:spPr>
          <a:xfrm>
            <a:off x="5486400" y="2084832"/>
            <a:ext cx="1371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C16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letters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059168" y="2084832"/>
            <a:ext cx="1481328" cy="530352"/>
          </a:xfrm>
          <a:prstGeom prst="roundRect">
            <a:avLst>
              <a:gd name="adj" fmla="val 12069"/>
            </a:avLst>
          </a:prstGeom>
          <a:solidFill>
            <a:srgbClr val="FBF1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 txBox="1"/>
          <p:nvPr/>
        </p:nvSpPr>
        <p:spPr>
          <a:xfrm>
            <a:off x="7114032" y="2084832"/>
            <a:ext cx="1371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C16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Moeten &amp; mogen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48640" y="3154680"/>
            <a:ext cx="384048" cy="384048"/>
          </a:xfrm>
          <a:prstGeom prst="ellipse">
            <a:avLst/>
          </a:prstGeom>
          <a:solidFill>
            <a:srgbClr val="0F6B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 txBox="1"/>
          <p:nvPr/>
        </p:nvSpPr>
        <p:spPr>
          <a:xfrm>
            <a:off x="548640" y="3154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1051560" y="313639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directions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3200400" y="3136392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F6F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Recognition and recall are different skills, so both are trained.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48640" y="3721608"/>
            <a:ext cx="384048" cy="384048"/>
          </a:xfrm>
          <a:prstGeom prst="ellipse">
            <a:avLst/>
          </a:prstGeom>
          <a:solidFill>
            <a:srgbClr val="0F6B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 txBox="1"/>
          <p:nvPr/>
        </p:nvSpPr>
        <p:spPr>
          <a:xfrm>
            <a:off x="548640" y="37216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1051560" y="37033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on every line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3200400" y="370332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F6F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speech synthesis. No files, no service, no cost.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48640" y="4288536"/>
            <a:ext cx="384048" cy="384048"/>
          </a:xfrm>
          <a:prstGeom prst="ellipse">
            <a:avLst/>
          </a:prstGeom>
          <a:solidFill>
            <a:srgbClr val="0F6B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 txBox="1"/>
          <p:nvPr/>
        </p:nvSpPr>
        <p:spPr>
          <a:xfrm>
            <a:off x="548640" y="42885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35" name="Text 33"/>
          <p:cNvSpPr txBox="1"/>
          <p:nvPr/>
        </p:nvSpPr>
        <p:spPr>
          <a:xfrm>
            <a:off x="1051560" y="427024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account, no name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3200400" y="4270248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F6F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is asked for and nothing leaves the phone.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feature that makes it usable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F6F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Dutch spelling gives an Arabic reader no route to the sound. So we write the sound in Arabic letters.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8046720" cy="1261872"/>
          </a:xfrm>
          <a:prstGeom prst="roundRect">
            <a:avLst>
              <a:gd name="adj" fmla="val 8696"/>
            </a:avLst>
          </a:prstGeom>
          <a:solidFill>
            <a:srgbClr val="F2F7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22960" y="178308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goedemorgen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2860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F6F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unreadable if you do not read Latin script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4663440" y="178308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000" b="1" dirty="0">
                <a:solidFill>
                  <a:srgbClr val="0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خُودَه مورخن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4663440" y="23317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i="1" dirty="0">
                <a:solidFill>
                  <a:srgbClr val="5F6F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word, in letters they have read all their life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26280" y="1828800"/>
            <a:ext cx="18288" cy="868680"/>
          </a:xfrm>
          <a:prstGeom prst="rect">
            <a:avLst/>
          </a:prstGeom>
          <a:solidFill>
            <a:srgbClr val="C7D8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548640" y="310896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a speaker button on every line, and a slow-repeat button on every Dutch one.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35204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16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what separates it from a translated version of an app that already exists.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44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82880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demo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658368" y="2697480"/>
            <a:ext cx="1005840" cy="32004"/>
          </a:xfrm>
          <a:prstGeom prst="rect">
            <a:avLst/>
          </a:prstGeom>
          <a:solidFill>
            <a:srgbClr val="C165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640080" y="292608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8F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topic  ·  pick a direction  ·  answer ten  ·  redo the ones you missed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we leave out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32688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F6F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risks that are specific to this prototype, not to AI in general.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8046720" cy="932688"/>
          </a:xfrm>
          <a:prstGeom prst="roundRect">
            <a:avLst>
              <a:gd name="adj" fmla="val 7843"/>
            </a:avLst>
          </a:prstGeom>
          <a:solidFill>
            <a:srgbClr val="FBF1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77240" y="1645920"/>
            <a:ext cx="384048" cy="384048"/>
          </a:xfrm>
          <a:prstGeom prst="ellipse">
            <a:avLst/>
          </a:prstGeom>
          <a:solidFill>
            <a:srgbClr val="C165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777240" y="1645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298448" y="1499616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16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app requires reading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298448" y="1773936"/>
            <a:ext cx="7086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people worst hit by the language barrier are often illiterate in their own language too. Audio on every line helps, but it does not solve it.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2395728"/>
            <a:ext cx="8046720" cy="932688"/>
          </a:xfrm>
          <a:prstGeom prst="roundRect">
            <a:avLst>
              <a:gd name="adj" fmla="val 7843"/>
            </a:avLst>
          </a:prstGeom>
          <a:solidFill>
            <a:srgbClr val="FBF1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777240" y="2670048"/>
            <a:ext cx="384048" cy="384048"/>
          </a:xfrm>
          <a:prstGeom prst="ellipse">
            <a:avLst/>
          </a:prstGeom>
          <a:solidFill>
            <a:srgbClr val="C165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777240" y="2670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298448" y="2523744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16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could replace real teaching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298448" y="2798064"/>
            <a:ext cx="7086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municipality could point at a free app instead of funding NT2 classes. 100 words is not a language, and the README says so.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419856"/>
            <a:ext cx="8046720" cy="932688"/>
          </a:xfrm>
          <a:prstGeom prst="roundRect">
            <a:avLst>
              <a:gd name="adj" fmla="val 7843"/>
            </a:avLst>
          </a:prstGeom>
          <a:solidFill>
            <a:srgbClr val="FBF1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777240" y="3694176"/>
            <a:ext cx="384048" cy="384048"/>
          </a:xfrm>
          <a:prstGeom prst="ellipse">
            <a:avLst/>
          </a:prstGeom>
          <a:solidFill>
            <a:srgbClr val="C165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777240" y="36941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298448" y="3547872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16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could teach a wrong sound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298448" y="3822192"/>
            <a:ext cx="7086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transliterations approximate Dutch sounds that Arabic does not have. Machine audio is not a native speaker.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457200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score is stored, sent, or exportable. It is not a test, and cannot be used as one.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44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learned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58368" y="1133856"/>
            <a:ext cx="1005840" cy="32004"/>
          </a:xfrm>
          <a:prstGeom prst="rect">
            <a:avLst/>
          </a:prstGeom>
          <a:solidFill>
            <a:srgbClr val="C165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384048" cy="384048"/>
          </a:xfrm>
          <a:prstGeom prst="ellipse">
            <a:avLst/>
          </a:prstGeom>
          <a:solidFill>
            <a:srgbClr val="C165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640080" y="1463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170432" y="142646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was the whole lesson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3931920" y="1426464"/>
            <a:ext cx="4663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F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first idea was rejected as too big. Our second hit a wall: a browser cannot fetch any page you paste into it.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40080" y="2240280"/>
            <a:ext cx="384048" cy="384048"/>
          </a:xfrm>
          <a:prstGeom prst="ellipse">
            <a:avLst/>
          </a:prstGeom>
          <a:solidFill>
            <a:srgbClr val="C165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640080" y="2240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170432" y="220370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engine, many topics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931920" y="2203704"/>
            <a:ext cx="4663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F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scales. Architecture does not have to. Going from 10 words to 100 changed no code at all.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0080" y="3017520"/>
            <a:ext cx="384048" cy="384048"/>
          </a:xfrm>
          <a:prstGeom prst="ellipse">
            <a:avLst/>
          </a:prstGeom>
          <a:solidFill>
            <a:srgbClr val="C165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640080" y="3017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170432" y="298094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Constraints made it better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3931920" y="2980944"/>
            <a:ext cx="4663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F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Arabic pronunciation line only exists because the user cannot read Latin script. The limit produced the best feature.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" y="3794760"/>
            <a:ext cx="384048" cy="384048"/>
          </a:xfrm>
          <a:prstGeom prst="ellipse">
            <a:avLst/>
          </a:prstGeom>
          <a:solidFill>
            <a:srgbClr val="C165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640080" y="3794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170432" y="375818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honest boundary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3931920" y="3758184"/>
            <a:ext cx="4663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F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train recognition, not speaking. That is the next build, and we would rather say so than claim otherwise.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937</Words>
  <Application>Microsoft Macintosh PowerPoint</Application>
  <PresentationFormat>On-screen Show (16:9)</PresentationFormat>
  <Paragraphs>105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Majed Al-Sakkaf (23121386)</cp:lastModifiedBy>
  <cp:revision>2</cp:revision>
  <dcterms:created xsi:type="dcterms:W3CDTF">2026-09-10T20:57:55Z</dcterms:created>
  <dcterms:modified xsi:type="dcterms:W3CDTF">2026-09-10T21:14:20Z</dcterms:modified>
</cp:coreProperties>
</file>